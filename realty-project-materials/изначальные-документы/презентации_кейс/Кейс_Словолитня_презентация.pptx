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0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oblozh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22201D"/>
                </a:solidFill>
                <a:latin typeface="Georgia"/>
              </a:rPr>
              <a:t>«Эпиграф» — дома, которые город хочет процитировать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С 2008 года — клубные дома и редевелопмент в исторических кварталах ЦАО.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9 проектов: 7 сданы, «Гравюра» строится, 1 — на стадии концепции.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~210 000 м² реализованной площади, команда ~60 человек.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Реставрация и новое строительство: дом продолжает квартал, а не спорит с ним.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Контекст · Ремесло · Тишина · Честность.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22201D"/>
                </a:solidFill>
                <a:latin typeface="Georgia"/>
              </a:rPr>
              <a:t>Задача: руина словолитни 1880-х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Бывшая словолитня 1880-х в Басманном районе, у Бауманской — здесь когда-то отливали шрифты.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Промышленная руина, которую квартал давно перестал замечать.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Что сохранить: кирпичные фасады с арочными окнами и память места.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Что создать: 64 лофта, 7 800 м² — и вернуть дом городу.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22201D"/>
                </a:solidFill>
                <a:latin typeface="Arial"/>
              </a:rPr>
              <a:t>•  Срок: 2019–2022.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22201D"/>
                </a:solidFill>
                <a:latin typeface="Georgia"/>
              </a:rPr>
              <a:t>Решение: сохранить стены, дать дому новую жизнь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do_pos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371600"/>
            <a:ext cx="8622792" cy="485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55C"/>
                </a:solidFill>
                <a:latin typeface="Arial"/>
              </a:rPr>
              <a:t>Исторический фасад с арочными окнами — основа архитектуры. Фасадные работы — «Камнетёс Премиум».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22201D"/>
                </a:solidFill>
                <a:latin typeface="Georgia"/>
              </a:rPr>
              <a:t>Генплан: три корпуса вокруг двора с садом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gen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371600"/>
            <a:ext cx="8622792" cy="485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55C"/>
                </a:solidFill>
                <a:latin typeface="Arial"/>
              </a:rPr>
              <a:t>Схема условная.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22201D"/>
                </a:solidFill>
                <a:latin typeface="Georgia"/>
              </a:rPr>
              <a:t>Продажи: 100% за 18 месяцев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prodaz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371600"/>
            <a:ext cx="8622792" cy="485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55C"/>
                </a:solidFill>
                <a:latin typeface="Arial"/>
              </a:rPr>
              <a:t>Старт продаж — 03.2020; 100% лофтов проданы к III кв. 2021.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22201D"/>
                </a:solidFill>
                <a:latin typeface="Georgia"/>
              </a:rPr>
              <a:t>Цена и результаты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731520" cy="22860"/>
          </a:xfrm>
          <a:prstGeom prst="rect">
            <a:avLst/>
          </a:pr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cena_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468112" cy="3075813"/>
          </a:xfrm>
          <a:prstGeom prst="rect">
            <a:avLst/>
          </a:prstGeom>
        </p:spPr>
      </p:pic>
      <p:pic>
        <p:nvPicPr>
          <p:cNvPr id="5" name="Picture 4" descr="06_rezulta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81328"/>
            <a:ext cx="5468112" cy="30758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01D"/>
                </a:solidFill>
                <a:latin typeface="Arial"/>
              </a:rPr>
              <a:t>Цена м² выросла с 520 до 735 тыс. ₽ — +41% от старта продаж (03.2020) до ввода (IV кв. 2022).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01D"/>
                </a:solidFill>
                <a:latin typeface="Arial"/>
              </a:rPr>
              <a:t>Ввод на 2 месяца раньше срока · NPS жителей — 71 · премия «Городской контекст» 2023, «Редевелопмент года».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5750204" y="972922"/>
            <a:ext cx="691286" cy="1209751"/>
          </a:xfrm>
          <a:custGeom>
            <a:avLst/>
            <a:gdLst/>
            <a:ahLst/>
            <a:cxnLst/>
            <a:rect l="l" t="t" r="r" b="b"/>
            <a:pathLst>
              <a:path w="72" h="126">
                <a:moveTo>
                  <a:pt x="0" y="126"/>
                </a:moveTo>
                <a:lnTo>
                  <a:pt x="0" y="36"/>
                </a:lnTo>
                <a:lnTo>
                  <a:pt x="0" y="35"/>
                </a:lnTo>
                <a:lnTo>
                  <a:pt x="0" y="33"/>
                </a:lnTo>
                <a:lnTo>
                  <a:pt x="0" y="32"/>
                </a:lnTo>
                <a:lnTo>
                  <a:pt x="0" y="31"/>
                </a:lnTo>
                <a:lnTo>
                  <a:pt x="0" y="30"/>
                </a:lnTo>
                <a:lnTo>
                  <a:pt x="0" y="28"/>
                </a:lnTo>
                <a:lnTo>
                  <a:pt x="1" y="27"/>
                </a:lnTo>
                <a:lnTo>
                  <a:pt x="1" y="26"/>
                </a:lnTo>
                <a:lnTo>
                  <a:pt x="1" y="25"/>
                </a:lnTo>
                <a:lnTo>
                  <a:pt x="2" y="24"/>
                </a:lnTo>
                <a:lnTo>
                  <a:pt x="2" y="22"/>
                </a:lnTo>
                <a:lnTo>
                  <a:pt x="3" y="21"/>
                </a:lnTo>
                <a:lnTo>
                  <a:pt x="3" y="20"/>
                </a:lnTo>
                <a:lnTo>
                  <a:pt x="4" y="19"/>
                </a:lnTo>
                <a:lnTo>
                  <a:pt x="4" y="18"/>
                </a:lnTo>
                <a:lnTo>
                  <a:pt x="5" y="17"/>
                </a:lnTo>
                <a:lnTo>
                  <a:pt x="6" y="16"/>
                </a:lnTo>
                <a:lnTo>
                  <a:pt x="6" y="15"/>
                </a:lnTo>
                <a:lnTo>
                  <a:pt x="7" y="14"/>
                </a:lnTo>
                <a:lnTo>
                  <a:pt x="8" y="13"/>
                </a:lnTo>
                <a:lnTo>
                  <a:pt x="9" y="12"/>
                </a:lnTo>
                <a:lnTo>
                  <a:pt x="10" y="11"/>
                </a:lnTo>
                <a:lnTo>
                  <a:pt x="11" y="10"/>
                </a:lnTo>
                <a:lnTo>
                  <a:pt x="12" y="9"/>
                </a:lnTo>
                <a:lnTo>
                  <a:pt x="13" y="8"/>
                </a:lnTo>
                <a:lnTo>
                  <a:pt x="14" y="7"/>
                </a:lnTo>
                <a:lnTo>
                  <a:pt x="15" y="6"/>
                </a:lnTo>
                <a:lnTo>
                  <a:pt x="16" y="6"/>
                </a:lnTo>
                <a:lnTo>
                  <a:pt x="17" y="5"/>
                </a:lnTo>
                <a:lnTo>
                  <a:pt x="18" y="4"/>
                </a:lnTo>
                <a:lnTo>
                  <a:pt x="19" y="4"/>
                </a:lnTo>
                <a:lnTo>
                  <a:pt x="20" y="3"/>
                </a:lnTo>
                <a:lnTo>
                  <a:pt x="21" y="3"/>
                </a:lnTo>
                <a:lnTo>
                  <a:pt x="22" y="2"/>
                </a:lnTo>
                <a:lnTo>
                  <a:pt x="24" y="2"/>
                </a:lnTo>
                <a:lnTo>
                  <a:pt x="25" y="1"/>
                </a:lnTo>
                <a:lnTo>
                  <a:pt x="26" y="1"/>
                </a:lnTo>
                <a:lnTo>
                  <a:pt x="27" y="1"/>
                </a:lnTo>
                <a:lnTo>
                  <a:pt x="28" y="0"/>
                </a:lnTo>
                <a:lnTo>
                  <a:pt x="30" y="0"/>
                </a:lnTo>
                <a:lnTo>
                  <a:pt x="31" y="0"/>
                </a:lnTo>
                <a:lnTo>
                  <a:pt x="32" y="0"/>
                </a:lnTo>
                <a:lnTo>
                  <a:pt x="33" y="0"/>
                </a:lnTo>
                <a:lnTo>
                  <a:pt x="35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0"/>
                </a:lnTo>
                <a:lnTo>
                  <a:pt x="41" y="0"/>
                </a:lnTo>
                <a:lnTo>
                  <a:pt x="42" y="0"/>
                </a:lnTo>
                <a:lnTo>
                  <a:pt x="44" y="0"/>
                </a:lnTo>
                <a:lnTo>
                  <a:pt x="45" y="1"/>
                </a:lnTo>
                <a:lnTo>
                  <a:pt x="46" y="1"/>
                </a:lnTo>
                <a:lnTo>
                  <a:pt x="47" y="1"/>
                </a:lnTo>
                <a:lnTo>
                  <a:pt x="48" y="2"/>
                </a:lnTo>
                <a:lnTo>
                  <a:pt x="50" y="2"/>
                </a:lnTo>
                <a:lnTo>
                  <a:pt x="51" y="3"/>
                </a:lnTo>
                <a:lnTo>
                  <a:pt x="52" y="3"/>
                </a:lnTo>
                <a:lnTo>
                  <a:pt x="53" y="4"/>
                </a:lnTo>
                <a:lnTo>
                  <a:pt x="54" y="4"/>
                </a:lnTo>
                <a:lnTo>
                  <a:pt x="55" y="5"/>
                </a:lnTo>
                <a:lnTo>
                  <a:pt x="56" y="6"/>
                </a:lnTo>
                <a:lnTo>
                  <a:pt x="57" y="6"/>
                </a:lnTo>
                <a:lnTo>
                  <a:pt x="58" y="7"/>
                </a:lnTo>
                <a:lnTo>
                  <a:pt x="59" y="8"/>
                </a:lnTo>
                <a:lnTo>
                  <a:pt x="60" y="9"/>
                </a:lnTo>
                <a:lnTo>
                  <a:pt x="61" y="10"/>
                </a:lnTo>
                <a:lnTo>
                  <a:pt x="62" y="11"/>
                </a:lnTo>
                <a:lnTo>
                  <a:pt x="63" y="12"/>
                </a:lnTo>
                <a:lnTo>
                  <a:pt x="64" y="13"/>
                </a:lnTo>
                <a:lnTo>
                  <a:pt x="65" y="14"/>
                </a:lnTo>
                <a:lnTo>
                  <a:pt x="66" y="15"/>
                </a:lnTo>
                <a:lnTo>
                  <a:pt x="66" y="16"/>
                </a:lnTo>
                <a:lnTo>
                  <a:pt x="67" y="17"/>
                </a:lnTo>
                <a:lnTo>
                  <a:pt x="68" y="18"/>
                </a:lnTo>
                <a:lnTo>
                  <a:pt x="68" y="19"/>
                </a:lnTo>
                <a:lnTo>
                  <a:pt x="69" y="20"/>
                </a:lnTo>
                <a:lnTo>
                  <a:pt x="69" y="21"/>
                </a:lnTo>
                <a:lnTo>
                  <a:pt x="70" y="22"/>
                </a:lnTo>
                <a:lnTo>
                  <a:pt x="70" y="24"/>
                </a:lnTo>
                <a:lnTo>
                  <a:pt x="71" y="25"/>
                </a:lnTo>
                <a:lnTo>
                  <a:pt x="71" y="26"/>
                </a:lnTo>
                <a:lnTo>
                  <a:pt x="71" y="27"/>
                </a:lnTo>
                <a:lnTo>
                  <a:pt x="72" y="28"/>
                </a:lnTo>
                <a:lnTo>
                  <a:pt x="72" y="30"/>
                </a:lnTo>
                <a:lnTo>
                  <a:pt x="72" y="31"/>
                </a:lnTo>
                <a:lnTo>
                  <a:pt x="72" y="32"/>
                </a:lnTo>
                <a:lnTo>
                  <a:pt x="72" y="33"/>
                </a:lnTo>
                <a:lnTo>
                  <a:pt x="72" y="35"/>
                </a:lnTo>
                <a:lnTo>
                  <a:pt x="72" y="36"/>
                </a:lnTo>
                <a:lnTo>
                  <a:pt x="72" y="126"/>
                </a:lnTo>
                <a:lnTo>
                  <a:pt x="70" y="126"/>
                </a:lnTo>
                <a:lnTo>
                  <a:pt x="70" y="36"/>
                </a:lnTo>
                <a:lnTo>
                  <a:pt x="69" y="35"/>
                </a:lnTo>
                <a:lnTo>
                  <a:pt x="69" y="34"/>
                </a:lnTo>
                <a:lnTo>
                  <a:pt x="69" y="32"/>
                </a:lnTo>
                <a:lnTo>
                  <a:pt x="69" y="31"/>
                </a:lnTo>
                <a:lnTo>
                  <a:pt x="69" y="30"/>
                </a:lnTo>
                <a:lnTo>
                  <a:pt x="69" y="29"/>
                </a:lnTo>
                <a:lnTo>
                  <a:pt x="69" y="28"/>
                </a:lnTo>
                <a:lnTo>
                  <a:pt x="68" y="27"/>
                </a:lnTo>
                <a:lnTo>
                  <a:pt x="68" y="26"/>
                </a:lnTo>
                <a:lnTo>
                  <a:pt x="67" y="25"/>
                </a:lnTo>
                <a:lnTo>
                  <a:pt x="67" y="23"/>
                </a:lnTo>
                <a:lnTo>
                  <a:pt x="67" y="22"/>
                </a:lnTo>
                <a:lnTo>
                  <a:pt x="66" y="21"/>
                </a:lnTo>
                <a:lnTo>
                  <a:pt x="66" y="20"/>
                </a:lnTo>
                <a:lnTo>
                  <a:pt x="65" y="19"/>
                </a:lnTo>
                <a:lnTo>
                  <a:pt x="64" y="18"/>
                </a:lnTo>
                <a:lnTo>
                  <a:pt x="64" y="17"/>
                </a:lnTo>
                <a:lnTo>
                  <a:pt x="63" y="16"/>
                </a:lnTo>
                <a:lnTo>
                  <a:pt x="62" y="15"/>
                </a:lnTo>
                <a:lnTo>
                  <a:pt x="62" y="14"/>
                </a:lnTo>
                <a:lnTo>
                  <a:pt x="61" y="14"/>
                </a:lnTo>
                <a:lnTo>
                  <a:pt x="60" y="13"/>
                </a:lnTo>
                <a:lnTo>
                  <a:pt x="59" y="12"/>
                </a:lnTo>
                <a:lnTo>
                  <a:pt x="58" y="11"/>
                </a:lnTo>
                <a:lnTo>
                  <a:pt x="58" y="10"/>
                </a:lnTo>
                <a:lnTo>
                  <a:pt x="57" y="10"/>
                </a:lnTo>
                <a:lnTo>
                  <a:pt x="56" y="9"/>
                </a:lnTo>
                <a:lnTo>
                  <a:pt x="55" y="8"/>
                </a:lnTo>
                <a:lnTo>
                  <a:pt x="54" y="8"/>
                </a:lnTo>
                <a:lnTo>
                  <a:pt x="53" y="7"/>
                </a:lnTo>
                <a:lnTo>
                  <a:pt x="52" y="6"/>
                </a:lnTo>
                <a:lnTo>
                  <a:pt x="51" y="6"/>
                </a:lnTo>
                <a:lnTo>
                  <a:pt x="50" y="5"/>
                </a:lnTo>
                <a:lnTo>
                  <a:pt x="49" y="5"/>
                </a:lnTo>
                <a:lnTo>
                  <a:pt x="47" y="5"/>
                </a:lnTo>
                <a:lnTo>
                  <a:pt x="46" y="4"/>
                </a:lnTo>
                <a:lnTo>
                  <a:pt x="45" y="4"/>
                </a:lnTo>
                <a:lnTo>
                  <a:pt x="44" y="3"/>
                </a:lnTo>
                <a:lnTo>
                  <a:pt x="43" y="3"/>
                </a:lnTo>
                <a:lnTo>
                  <a:pt x="42" y="3"/>
                </a:lnTo>
                <a:lnTo>
                  <a:pt x="41" y="3"/>
                </a:lnTo>
                <a:lnTo>
                  <a:pt x="40" y="3"/>
                </a:lnTo>
                <a:lnTo>
                  <a:pt x="38" y="3"/>
                </a:lnTo>
                <a:lnTo>
                  <a:pt x="37" y="3"/>
                </a:lnTo>
                <a:lnTo>
                  <a:pt x="36" y="2"/>
                </a:lnTo>
                <a:lnTo>
                  <a:pt x="35" y="3"/>
                </a:lnTo>
                <a:lnTo>
                  <a:pt x="34" y="3"/>
                </a:lnTo>
                <a:lnTo>
                  <a:pt x="32" y="3"/>
                </a:lnTo>
                <a:lnTo>
                  <a:pt x="31" y="3"/>
                </a:lnTo>
                <a:lnTo>
                  <a:pt x="30" y="3"/>
                </a:lnTo>
                <a:lnTo>
                  <a:pt x="29" y="3"/>
                </a:lnTo>
                <a:lnTo>
                  <a:pt x="28" y="3"/>
                </a:lnTo>
                <a:lnTo>
                  <a:pt x="27" y="4"/>
                </a:lnTo>
                <a:lnTo>
                  <a:pt x="26" y="4"/>
                </a:lnTo>
                <a:lnTo>
                  <a:pt x="25" y="5"/>
                </a:lnTo>
                <a:lnTo>
                  <a:pt x="23" y="5"/>
                </a:lnTo>
                <a:lnTo>
                  <a:pt x="22" y="5"/>
                </a:lnTo>
                <a:lnTo>
                  <a:pt x="21" y="6"/>
                </a:lnTo>
                <a:lnTo>
                  <a:pt x="20" y="6"/>
                </a:lnTo>
                <a:lnTo>
                  <a:pt x="19" y="7"/>
                </a:lnTo>
                <a:lnTo>
                  <a:pt x="18" y="8"/>
                </a:lnTo>
                <a:lnTo>
                  <a:pt x="17" y="8"/>
                </a:lnTo>
                <a:lnTo>
                  <a:pt x="16" y="9"/>
                </a:lnTo>
                <a:lnTo>
                  <a:pt x="15" y="10"/>
                </a:lnTo>
                <a:lnTo>
                  <a:pt x="14" y="10"/>
                </a:lnTo>
                <a:lnTo>
                  <a:pt x="14" y="11"/>
                </a:lnTo>
                <a:lnTo>
                  <a:pt x="13" y="12"/>
                </a:lnTo>
                <a:lnTo>
                  <a:pt x="12" y="13"/>
                </a:lnTo>
                <a:lnTo>
                  <a:pt x="11" y="14"/>
                </a:lnTo>
                <a:lnTo>
                  <a:pt x="10" y="14"/>
                </a:lnTo>
                <a:lnTo>
                  <a:pt x="10" y="15"/>
                </a:lnTo>
                <a:lnTo>
                  <a:pt x="9" y="16"/>
                </a:lnTo>
                <a:lnTo>
                  <a:pt x="8" y="17"/>
                </a:lnTo>
                <a:lnTo>
                  <a:pt x="8" y="18"/>
                </a:lnTo>
                <a:lnTo>
                  <a:pt x="7" y="19"/>
                </a:lnTo>
                <a:lnTo>
                  <a:pt x="6" y="20"/>
                </a:lnTo>
                <a:lnTo>
                  <a:pt x="6" y="21"/>
                </a:lnTo>
                <a:lnTo>
                  <a:pt x="5" y="22"/>
                </a:lnTo>
                <a:lnTo>
                  <a:pt x="5" y="23"/>
                </a:lnTo>
                <a:lnTo>
                  <a:pt x="5" y="25"/>
                </a:lnTo>
                <a:lnTo>
                  <a:pt x="4" y="26"/>
                </a:lnTo>
                <a:lnTo>
                  <a:pt x="4" y="27"/>
                </a:lnTo>
                <a:lnTo>
                  <a:pt x="3" y="28"/>
                </a:lnTo>
                <a:lnTo>
                  <a:pt x="3" y="29"/>
                </a:lnTo>
                <a:lnTo>
                  <a:pt x="3" y="30"/>
                </a:lnTo>
                <a:lnTo>
                  <a:pt x="3" y="31"/>
                </a:lnTo>
                <a:lnTo>
                  <a:pt x="3" y="32"/>
                </a:lnTo>
                <a:lnTo>
                  <a:pt x="3" y="34"/>
                </a:lnTo>
                <a:lnTo>
                  <a:pt x="3" y="35"/>
                </a:lnTo>
                <a:lnTo>
                  <a:pt x="2" y="36"/>
                </a:lnTo>
                <a:lnTo>
                  <a:pt x="2" y="126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038240" y="915314"/>
            <a:ext cx="115214" cy="134417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0"/>
                </a:moveTo>
                <a:lnTo>
                  <a:pt x="12" y="0"/>
                </a:lnTo>
                <a:lnTo>
                  <a:pt x="10" y="14"/>
                </a:lnTo>
                <a:lnTo>
                  <a:pt x="2" y="14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663793" y="2163470"/>
            <a:ext cx="864108" cy="38405"/>
          </a:xfrm>
          <a:custGeom>
            <a:avLst/>
            <a:gdLst/>
            <a:ahLst/>
            <a:cxnLst/>
            <a:rect l="l" t="t" r="r" b="b"/>
            <a:pathLst>
              <a:path w="90" h="4">
                <a:moveTo>
                  <a:pt x="0" y="0"/>
                </a:moveTo>
                <a:lnTo>
                  <a:pt x="90" y="0"/>
                </a:lnTo>
                <a:lnTo>
                  <a:pt x="90" y="4"/>
                </a:lnTo>
                <a:lnTo>
                  <a:pt x="0" y="4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702198" y="2230679"/>
            <a:ext cx="787298" cy="9601"/>
          </a:xfrm>
          <a:custGeom>
            <a:avLst/>
            <a:gdLst/>
            <a:ahLst/>
            <a:cxnLst/>
            <a:rect l="l" t="t" r="r" b="b"/>
            <a:pathLst>
              <a:path w="82" h="1">
                <a:moveTo>
                  <a:pt x="0" y="0"/>
                </a:moveTo>
                <a:lnTo>
                  <a:pt x="82" y="0"/>
                </a:lnTo>
                <a:lnTo>
                  <a:pt x="82" y="1"/>
                </a:lnTo>
                <a:lnTo>
                  <a:pt x="0" y="1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932627" y="1491386"/>
            <a:ext cx="182423" cy="307238"/>
          </a:xfrm>
          <a:custGeom>
            <a:avLst/>
            <a:gdLst/>
            <a:ahLst/>
            <a:cxnLst/>
            <a:rect l="l" t="t" r="r" b="b"/>
            <a:pathLst>
              <a:path w="19" h="32">
                <a:moveTo>
                  <a:pt x="0" y="16"/>
                </a:moveTo>
                <a:lnTo>
                  <a:pt x="13" y="0"/>
                </a:lnTo>
                <a:lnTo>
                  <a:pt x="19" y="0"/>
                </a:lnTo>
                <a:lnTo>
                  <a:pt x="6" y="16"/>
                </a:lnTo>
                <a:lnTo>
                  <a:pt x="19" y="32"/>
                </a:lnTo>
                <a:lnTo>
                  <a:pt x="13" y="32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76645" y="1491386"/>
            <a:ext cx="182423" cy="307238"/>
          </a:xfrm>
          <a:custGeom>
            <a:avLst/>
            <a:gdLst/>
            <a:ahLst/>
            <a:cxnLst/>
            <a:rect l="l" t="t" r="r" b="b"/>
            <a:pathLst>
              <a:path w="19" h="32">
                <a:moveTo>
                  <a:pt x="0" y="16"/>
                </a:moveTo>
                <a:lnTo>
                  <a:pt x="13" y="0"/>
                </a:lnTo>
                <a:lnTo>
                  <a:pt x="19" y="0"/>
                </a:lnTo>
                <a:lnTo>
                  <a:pt x="6" y="16"/>
                </a:lnTo>
                <a:lnTo>
                  <a:pt x="19" y="32"/>
                </a:lnTo>
                <a:lnTo>
                  <a:pt x="13" y="32"/>
                </a:lnTo>
                <a:close/>
              </a:path>
            </a:pathLst>
          </a:custGeom>
          <a:solidFill>
            <a:srgbClr val="A27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2401580"/>
            <a:ext cx="54864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21" spc="793">
                <a:solidFill>
                  <a:srgbClr val="22201D"/>
                </a:solidFill>
                <a:latin typeface="Georgia"/>
              </a:rPr>
              <a:t>ЭПИГРАФ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0" i="1">
                <a:solidFill>
                  <a:srgbClr val="22201D"/>
                </a:solidFill>
                <a:latin typeface="Georgia"/>
              </a:rPr>
              <a:t>Дома, которые город хочет процитировать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22201D"/>
                </a:solidFill>
                <a:latin typeface="Arial"/>
              </a:rPr>
              <a:t>hello@epigraf.example  ·  epigraf.example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6B655C"/>
                </a:solidFill>
                <a:latin typeface="Arial"/>
              </a:rPr>
              <a:t>Следующий дом — «Гравюра», Хамовники, Плющиха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