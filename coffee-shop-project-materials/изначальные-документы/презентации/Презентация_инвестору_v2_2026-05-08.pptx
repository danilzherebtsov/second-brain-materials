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8775" y="0"/>
            <a:ext cx="73152" cy="6858000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3" name="Shape 1"/>
          <p:cNvSpPr/>
          <p:nvPr/>
        </p:nvSpPr>
        <p:spPr>
          <a:xfrm>
            <a:off x="11807647" y="0"/>
            <a:ext cx="36576" cy="6858000"/>
          </a:xfrm>
          <a:prstGeom prst="rect">
            <a:avLst/>
          </a:prstGeom>
          <a:solidFill>
            <a:srgbClr val="8DAE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201168" cy="201168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Кофейня «Ладья»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5D6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Вторая точка в Екатеринбурге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548640" cy="27432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029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частного инвестора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 Сидоров, основатель  ·  Май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 нас уже работает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точка вышла на стабильную выручку за 2 года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первой точки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7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млн ₽ / месяц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Стабильно, без сезонных провалов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212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2023 года, кофе третьей волны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91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60–70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постоянных клиентов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заходит минимум раз в неделю.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Узнаваемость по имени и заказу — встроена в людей.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73152" cy="2194560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0233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«Постоянных клиентов уже около 60–70 человек, видим их минимум раз в неделю.»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5486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Ольга, управляющая первой точки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CLAUDE.md (выручка); Анализ_отзывов.md, раздел 2.6 (постоянные клиенты)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Голос клиента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внешнее упоминание за январь–апрель 2026: что любят и что просят улучшить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4406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64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хвалят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«Кофе всегда стабильно вкусный.»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Екатерина С., Яндекс, 30.01.2026, 5★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«Бариста Никита — мой герой. Запоминает заказы постоянных гостей. Не теряйте его!»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анкета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4251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«Лучшая кофейня в районе!»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Мария Т., 2ГИС, 22.01.2026, 5★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52120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«Десерты — пять с плюсом. Чизкейк просто волшебный.»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5852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Виктория Л., Яндекс, 14.02.2026, 5★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1554480"/>
            <a:ext cx="54406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01368"/>
            <a:ext cx="365760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0" y="1764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просят улучшить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92240" y="2331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«Атмосфера приятная, но шумно… Не для работы место.»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92240" y="29718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Яндекс, 25.01.2026, 3★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92240" y="32918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«Очень не хватает розеток у барной стойки.»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92240" y="3931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анкета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92240" y="4251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«Заходил два раза. Во второй (в субботу днём) — ждал кофе 20 минут.»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92240" y="4892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2ГИС, 02.02.2026, 3★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92240" y="52120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«Wi-fi отвратный, нельзя нормально работать.»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492240" y="5852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2ГИС, 10.02.2026, 2★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Анализ_отзывов.md (агрегация); 01_исходники/конкуренты/Отзывы_первой_точки.docx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Зачем вторая точка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расти на одной точке не получается, и мы знаем почему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3703320" cy="73152"/>
          </a:xfrm>
          <a:prstGeom prst="rect">
            <a:avLst/>
          </a:prstGeom>
          <a:solidFill>
            <a:srgbClr val="2E5E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Упёрлись в пропускную способность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пики (будни 9–11 и 16–18) гости уходят: «ждал кофе 20 минут», «очередь как в макдональдс». Один бариста и одна кофемашинная группа — потолок выручки.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78308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1783080"/>
            <a:ext cx="3703320" cy="73152"/>
          </a:xfrm>
          <a:prstGeom prst="rect">
            <a:avLst/>
          </a:prstGeom>
          <a:solidFill>
            <a:srgbClr val="2E5E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зал, три сценария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3566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Фрилансеры, пары и семьи мешают друг другу. Любой режим зала кому-то да некомфортен. Нужна планировка с зонированием.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178308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783080"/>
            <a:ext cx="3703320" cy="73152"/>
          </a:xfrm>
          <a:prstGeom prst="rect">
            <a:avLst/>
          </a:prstGeom>
          <a:solidFill>
            <a:srgbClr val="2E5E4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Операционный актив простаивает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95360" y="3566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года накоплены SOP, рецептура, поставщики, обученные люди. Сейчас всё это работает только на одну точку.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5166360"/>
            <a:ext cx="11018520" cy="8686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5166360"/>
            <a:ext cx="109728" cy="868680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5212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открытия — до 1 августа 2026.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сезону и срокам по аренде. Подписать договор аренды нужно в мае.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CLAUDE.md (дедлайн); Анализ_отзывов.md разд. 1.3, knowledge/рынок_и_конкуренты.md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Кому мы продаём и за что платят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типа гостя и продуктовое ядро, которое переносим во вторую точку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первой точки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440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441448"/>
            <a:ext cx="640080" cy="640080"/>
          </a:xfrm>
          <a:prstGeom prst="ellipse">
            <a:avLst/>
          </a:prstGeom>
          <a:solidFill>
            <a:srgbClr val="C5D6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51176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3591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Фрилансеры и удалёнщики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45920" y="26974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Жалобы на Wi-Fi, розетки, шум. Формулировка: «не для работы место».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474720"/>
            <a:ext cx="5440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721608"/>
            <a:ext cx="640080" cy="640080"/>
          </a:xfrm>
          <a:prstGeom prst="ellipse">
            <a:avLst/>
          </a:prstGeom>
          <a:solidFill>
            <a:srgbClr val="C5D6C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831336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6393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Пары и компании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45920" y="39776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Пришли пообщаться, мешает фон людей в наушниках. Просят зону для встреч.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754880"/>
            <a:ext cx="5440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5001768"/>
            <a:ext cx="640080" cy="640080"/>
          </a:xfrm>
          <a:prstGeom prst="ellipse">
            <a:avLst/>
          </a:prstGeom>
          <a:solidFill>
            <a:srgbClr val="C5D6C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111496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9194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Семьи с детьми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45920" y="52578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Просят детский стульчик и пеленальный столик. С коляской неудобно.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ядро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309360" y="2194560"/>
            <a:ext cx="5349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37960" y="2487168"/>
            <a:ext cx="164592" cy="164592"/>
          </a:xfrm>
          <a:prstGeom prst="oval">
            <a:avLst/>
          </a:prstGeom>
          <a:solidFill>
            <a:srgbClr val="C7A572"/>
          </a:solidFill>
          <a:ln/>
        </p:spPr>
      </p:sp>
      <p:sp>
        <p:nvSpPr>
          <p:cNvPr id="24" name="Text 19"/>
          <p:cNvSpPr/>
          <p:nvPr/>
        </p:nvSpPr>
        <p:spPr>
          <a:xfrm>
            <a:off x="681228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Эспрессо-меню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812280" y="27066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Стабильное качество, тот же поставщик зерна — Skuratov (купаж «Эспрессо мягкий»).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537960" y="3438144"/>
            <a:ext cx="164592" cy="164592"/>
          </a:xfrm>
          <a:prstGeom prst="oval">
            <a:avLst/>
          </a:prstGeom>
          <a:solidFill>
            <a:srgbClr val="C7A572"/>
          </a:solidFill>
          <a:ln/>
        </p:spPr>
      </p:sp>
      <p:sp>
        <p:nvSpPr>
          <p:cNvPr id="27" name="Text 22"/>
          <p:cNvSpPr/>
          <p:nvPr/>
        </p:nvSpPr>
        <p:spPr>
          <a:xfrm>
            <a:off x="6812280" y="3328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Сырники и завтраки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812280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Якорный SKU. «Завтраки супер, особенно сырники» (Мария Т., 5★).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537960" y="4389120"/>
            <a:ext cx="164592" cy="164592"/>
          </a:xfrm>
          <a:prstGeom prst="oval">
            <a:avLst/>
          </a:prstGeom>
          <a:solidFill>
            <a:srgbClr val="C7A572"/>
          </a:solidFill>
          <a:ln/>
        </p:spPr>
      </p:sp>
      <p:sp>
        <p:nvSpPr>
          <p:cNvPr id="30" name="Text 25"/>
          <p:cNvSpPr/>
          <p:nvPr/>
        </p:nvSpPr>
        <p:spPr>
          <a:xfrm>
            <a:off x="6812280" y="4279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Чизкейк и десерты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812280" y="4608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«Чизкейк просто волшебный. Беру на вынос два раза в неделю» (Виктория Л., 5★).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537960" y="5340096"/>
            <a:ext cx="164592" cy="164592"/>
          </a:xfrm>
          <a:prstGeom prst="oval">
            <a:avLst/>
          </a:prstGeom>
          <a:solidFill>
            <a:srgbClr val="C7A572"/>
          </a:solidFill>
          <a:ln/>
        </p:spPr>
      </p:sp>
      <p:sp>
        <p:nvSpPr>
          <p:cNvPr id="33" name="Text 28"/>
          <p:cNvSpPr/>
          <p:nvPr/>
        </p:nvSpPr>
        <p:spPr>
          <a:xfrm>
            <a:off x="6812280" y="5230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Молоко в линейке с дня 1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812280" y="5559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Безлактозное, овсяное, миндальное, кокосовое — маркер сервиса.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40080" y="612648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 первой точки и структура выручки по категориям — [требует уточнения, спросить Ольгу].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37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knowledge/рынок_и_конкуренты.md; Анализ_отзывов.md часть 2; knowledge/решения.md (Skuratov)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кандидата на локацию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помещения свой профиль риска. Финал — после проверки на осмотре.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703320" cy="77724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Гагарина, 14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ТЦ  ·  62 кв.м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185 000 ₽/мес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419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капремонта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7856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9867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 рядом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398264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435254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трафик ТЦ, климат-контроль из коробки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129784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508406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Шумоизоляция от коридора почти невозможна; мощность лимитирована администрацией ТЦ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8056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80560" y="1737360"/>
            <a:ext cx="3703320" cy="77724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21" name="Text 17"/>
          <p:cNvSpPr/>
          <p:nvPr/>
        </p:nvSpPr>
        <p:spPr>
          <a:xfrm>
            <a:off x="4709160" y="1828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Лесная, 7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709160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Стрит  ·  48 кв.м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09160" y="2651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09160" y="28529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220 000 ₽ + КУ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70916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709160" y="3419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~1 800 000 ₽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709160" y="37856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09160" y="39867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площадь</a:t>
            </a:r>
            <a:endParaRPr lang="en-US" sz="14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398264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83480" y="435254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Стрит-формат, лучший естественный свет, проще поднять мощность в рамках ремонта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129784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983480" y="508406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Узкий зал — компромисс между плотностью и зонированием; критично проверить тамбур и ступени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32104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321040" y="1737360"/>
            <a:ext cx="3703320" cy="77724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5" name="Text 29"/>
          <p:cNvSpPr/>
          <p:nvPr/>
        </p:nvSpPr>
        <p:spPr>
          <a:xfrm>
            <a:off x="8549640" y="1828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Парковая, 22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8549640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Угловое, спальный  ·  85 кв.м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8549640" y="2651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8549640" y="28529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165 000 ₽/мес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854964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8549640" y="3419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Уточняется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8549640" y="37856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8549640" y="39867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трафик</a:t>
            </a:r>
            <a:endParaRPr lang="en-US" sz="14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4398264"/>
            <a:ext cx="201168" cy="20116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823960" y="435254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Простор под зонирование и мягкую мебель; вероятно, первая кофейня третьей волны в районе</a:t>
            </a:r>
            <a:endParaRPr lang="en-US" sz="11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5129784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823960" y="508406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Семейный сегмент основной — обязательны пеленальный столик и доступность с коляской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48" name="Text 4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CLAUDE.md разд. 3; чек-лист — Анализ_отзывов.md часть 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делаем иначе на второй точке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Учли уроки первой и зашили их в проект до подписания договора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 С ПЕРВОЙ ТОЧКИ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0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ВО ВТОРОЙ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457200" cy="457200"/>
          </a:xfrm>
          <a:prstGeom prst="oval">
            <a:avLst/>
          </a:prstGeom>
          <a:solidFill>
            <a:srgbClr val="C5D6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14884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«Шумно… Не для работы место.»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0428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2148840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Зонирование: тихая зона (4 стола) + социальная. Акустика по техзаданию.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2862072"/>
            <a:ext cx="457200" cy="457200"/>
          </a:xfrm>
          <a:prstGeom prst="oval">
            <a:avLst/>
          </a:prstGeom>
          <a:solidFill>
            <a:srgbClr val="C5D6C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535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862072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«Очень не хватает розеток.»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01752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83680" y="2862072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Розетка на каждые 2 посадочных места + USB-A/C в столешницы.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3575304"/>
            <a:ext cx="457200" cy="457200"/>
          </a:xfrm>
          <a:prstGeom prst="oval">
            <a:avLst/>
          </a:prstGeom>
          <a:solidFill>
            <a:srgbClr val="C5D6C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66744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575304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«Wi-fi отвратный.»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730752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83680" y="357530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«бизнес» от 100 Мбит/с с гостевым SSID и лимитом 20 Мбит/с.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40080" y="4288536"/>
            <a:ext cx="457200" cy="457200"/>
          </a:xfrm>
          <a:prstGeom prst="oval">
            <a:avLst/>
          </a:prstGeom>
          <a:solidFill>
            <a:srgbClr val="C5D6CE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7997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4288536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«Ждал кофе 20 минут.»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443984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583680" y="4288536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кофемашинные группы + отдельная линия take-away при подходящей локации.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640080" y="5001768"/>
            <a:ext cx="457200" cy="457200"/>
          </a:xfrm>
          <a:prstGeom prst="oval">
            <a:avLst/>
          </a:prstGeom>
          <a:solidFill>
            <a:srgbClr val="C5D6CE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093208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234440" y="5001768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«Не работает терминал третий раз за месяц.»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5157216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583680" y="5001768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терминал и СБП-QR с дня 1. Ежедневная проверка перед сменой.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640080" y="5715000"/>
            <a:ext cx="457200" cy="457200"/>
          </a:xfrm>
          <a:prstGeom prst="oval">
            <a:avLst/>
          </a:prstGeom>
          <a:solidFill>
            <a:srgbClr val="C5D6CE"/>
          </a:solidFill>
          <a:ln/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5806440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234440" y="571500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«Бариста Никита — мой герой.»</a:t>
            </a:r>
            <a:endParaRPr lang="en-US" sz="12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5870448"/>
            <a:ext cx="228600" cy="2286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583680" y="5715000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Стажировка новой команды на первой точке 4–6 недель. Никиту с первой точки не забираем.</a:t>
            </a:r>
            <a:endParaRPr lang="en-US" sz="1200" dirty="0"/>
          </a:p>
        </p:txBody>
      </p:sp>
      <p:sp>
        <p:nvSpPr>
          <p:cNvPr id="37" name="Shape 23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38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39" name="Text 25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Анализ_отзывов.md часть 3; knowledge/обучение.md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Стартовые инвестиции — 5,6 млн 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проекта до 6 млн ₽: есть подушка 387 тыс ₽ на отклонения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1463040" cy="1265206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874520"/>
            <a:ext cx="1463040" cy="126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017520" y="2502551"/>
            <a:ext cx="365760" cy="914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18708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488835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1 688 500 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3139726"/>
            <a:ext cx="1463040" cy="1753381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139726"/>
            <a:ext cx="1463040" cy="175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017520" y="4011845"/>
            <a:ext cx="365760" cy="9144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3696377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998129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2 340 000 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63040" y="4893107"/>
            <a:ext cx="1463040" cy="1187653"/>
          </a:xfrm>
          <a:prstGeom prst="rect">
            <a:avLst/>
          </a:prstGeom>
          <a:solidFill>
            <a:srgbClr val="C97B5C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893107"/>
            <a:ext cx="1463040" cy="1187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017520" y="5482361"/>
            <a:ext cx="365760" cy="9144"/>
          </a:xfrm>
          <a:prstGeom prst="rect">
            <a:avLst/>
          </a:prstGeom>
          <a:solidFill>
            <a:srgbClr val="C97B5C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51668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Прочее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5468645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1 585 000 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5,6 млн 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 ·  5 613 500 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91640"/>
            <a:ext cx="57150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920240"/>
            <a:ext cx="73152" cy="128016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и отделка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469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1 688 500 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258568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Демонтаж, электрика, сантехника, вентиляция,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отделка, пол, дизайн-проект (резерв 10%)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337560"/>
            <a:ext cx="73152" cy="1280160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4692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2 340 000 ₽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5080" y="3675888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Кофемашина La Marzocco Linea PB,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кофемолки Mahlkonig, холод, печь, мебель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754880"/>
            <a:ext cx="73152" cy="1280160"/>
          </a:xfrm>
          <a:prstGeom prst="rect">
            <a:avLst/>
          </a:prstGeom>
          <a:solidFill>
            <a:srgbClr val="C97B5C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стартовые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46920" y="4709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7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1 585 000 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5093208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и аренда на 2 мес, юр.услуги, брендинг,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к открытию, стартовый запас, обучение,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300 000 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6355080"/>
            <a:ext cx="5715000" cy="45720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Стартовый_бюджет.xlsx, лист «Стартовый бюджет», версия от 30.04.2026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Месячная экономика — прогноз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Прогнозная маржа точки до УСН ~2 млн ₽/мес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5440680"/>
            <a:ext cx="4480560" cy="18288"/>
          </a:xfrm>
          <a:prstGeom prst="rect">
            <a:avLst/>
          </a:prstGeom>
          <a:solidFill>
            <a:srgbClr val="1F2A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3218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млн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4560570"/>
            <a:ext cx="4480560" cy="4572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4169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млн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34440" y="3680460"/>
            <a:ext cx="4480560" cy="4572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15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млн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2800350"/>
            <a:ext cx="4480560" cy="4572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8147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млн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34440" y="1920240"/>
            <a:ext cx="4480560" cy="4572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013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млн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2360295"/>
            <a:ext cx="1371600" cy="3080385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199453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3 500 000 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4154399"/>
            <a:ext cx="1371600" cy="1286281"/>
          </a:xfrm>
          <a:prstGeom prst="rect">
            <a:avLst/>
          </a:prstGeom>
          <a:solidFill>
            <a:srgbClr val="C97B5C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788639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1 461 500 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расходов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34440" y="6080760"/>
            <a:ext cx="4480560" cy="457200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6080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точки до УСН  ·  </a:t>
            </a:r>
            <a:pPr algn="ctr" indent="0" marL="0">
              <a:buNone/>
            </a:pPr>
            <a:r>
              <a:rPr lang="en-US" sz="1300" b="1" dirty="0">
                <a:solidFill>
                  <a:srgbClr val="1F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~2 000 000 ₽/мес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1691640"/>
            <a:ext cx="57150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8288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ежемесячных расходов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 продуктов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520 000 ₽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2615184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(5 человек)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0" y="26700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380 000 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999232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054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Аренда*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0" y="30540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220 000 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3383280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438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Налоги с ФОТ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84080" y="34381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114 000 ₽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3767328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Эквайринг 2,5%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84080" y="3822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87 500 ₽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4151376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84080" y="4206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65 000 ₽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26480" y="4535424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4590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84080" y="4590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₽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26480" y="4919472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4974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784080" y="49743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₽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26480" y="5303520"/>
            <a:ext cx="5440680" cy="9144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5404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расходы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601200" y="54041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1 461 500 ₽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126480" y="59436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Подставлено 220 000 ₽ как плейсхолдер. Финальная цифра — после выбора локации.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Стартовый_бюджет.xlsx, лист «Месячные расходы»; УСН 7% — CLAUDE.md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запуска до 1 августа 2026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Критический путь: договор аренды → ремонт → монтаж кофемашины → пуск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04022" y="2217420"/>
            <a:ext cx="8183651" cy="45720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6" name="Shape 4"/>
          <p:cNvSpPr/>
          <p:nvPr/>
        </p:nvSpPr>
        <p:spPr>
          <a:xfrm>
            <a:off x="1610830" y="1847088"/>
            <a:ext cx="786384" cy="786384"/>
          </a:xfrm>
          <a:prstGeom prst="ellipse">
            <a:avLst/>
          </a:prstGeom>
          <a:solidFill>
            <a:srgbClr val="F8F7F4"/>
          </a:solidFill>
          <a:ln/>
        </p:spPr>
      </p:sp>
      <p:sp>
        <p:nvSpPr>
          <p:cNvPr id="7" name="Shape 5"/>
          <p:cNvSpPr/>
          <p:nvPr/>
        </p:nvSpPr>
        <p:spPr>
          <a:xfrm>
            <a:off x="1683982" y="1920240"/>
            <a:ext cx="640080" cy="640080"/>
          </a:xfrm>
          <a:prstGeom prst="ellipse">
            <a:avLst/>
          </a:prstGeom>
          <a:solidFill>
            <a:srgbClr val="2E5E4E"/>
          </a:solidFill>
          <a:ln w="38100">
            <a:solidFill>
              <a:srgbClr val="C7A5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398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236212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2362124" cy="5486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9184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 по локации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886200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проверка трёх помещений (электрика, акустика, доступность). Подписание договора аренды.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714" y="1847088"/>
            <a:ext cx="786384" cy="786384"/>
          </a:xfrm>
          <a:prstGeom prst="ellipse">
            <a:avLst/>
          </a:prstGeom>
          <a:solidFill>
            <a:srgbClr val="F8F7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411866" y="1920240"/>
            <a:ext cx="640080" cy="640080"/>
          </a:xfrm>
          <a:prstGeom prst="ellipse">
            <a:avLst/>
          </a:prstGeom>
          <a:solidFill>
            <a:srgbClr val="2E5E4E"/>
          </a:solidFill>
          <a:ln w="38100">
            <a:solidFill>
              <a:srgbClr val="C7A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186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05124" y="269748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 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50844" y="3108960"/>
            <a:ext cx="236212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0844" y="3108960"/>
            <a:ext cx="2362124" cy="5486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20" name="Text 18"/>
          <p:cNvSpPr/>
          <p:nvPr/>
        </p:nvSpPr>
        <p:spPr>
          <a:xfrm>
            <a:off x="3688004" y="329184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Ремонт + закупка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88004" y="3886200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Демонтаж, электрика, вентиляция. Параллельно — заказ оборудования и стажировка команды на первой точке.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66598" y="1847088"/>
            <a:ext cx="786384" cy="786384"/>
          </a:xfrm>
          <a:prstGeom prst="ellipse">
            <a:avLst/>
          </a:prstGeom>
          <a:solidFill>
            <a:srgbClr val="F8F7F4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9750" y="1920240"/>
            <a:ext cx="640080" cy="640080"/>
          </a:xfrm>
          <a:prstGeom prst="ellipse">
            <a:avLst/>
          </a:prstGeom>
          <a:solidFill>
            <a:srgbClr val="2E5E4E"/>
          </a:solidFill>
          <a:ln w="38100">
            <a:solidFill>
              <a:srgbClr val="C7A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975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33008" y="269748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2026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78728" y="3108960"/>
            <a:ext cx="236212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8728" y="3108960"/>
            <a:ext cx="2362124" cy="5486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28" name="Text 26"/>
          <p:cNvSpPr/>
          <p:nvPr/>
        </p:nvSpPr>
        <p:spPr>
          <a:xfrm>
            <a:off x="6415888" y="329184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Монтаж и наладка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15888" y="3886200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кофемашины и кухни, пуско-наладка, тренировочные смены. Маркетинг к открытию: SMM, офлайн.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794481" y="1847088"/>
            <a:ext cx="786384" cy="786384"/>
          </a:xfrm>
          <a:prstGeom prst="ellipse">
            <a:avLst/>
          </a:prstGeom>
          <a:solidFill>
            <a:srgbClr val="F8F7F4"/>
          </a:solidFill>
          <a:ln/>
        </p:spPr>
      </p:sp>
      <p:sp>
        <p:nvSpPr>
          <p:cNvPr id="31" name="Shape 29"/>
          <p:cNvSpPr/>
          <p:nvPr/>
        </p:nvSpPr>
        <p:spPr>
          <a:xfrm>
            <a:off x="9867633" y="1920240"/>
            <a:ext cx="640080" cy="640080"/>
          </a:xfrm>
          <a:prstGeom prst="ellipse">
            <a:avLst/>
          </a:prstGeom>
          <a:solidFill>
            <a:srgbClr val="2E5E4E"/>
          </a:solidFill>
          <a:ln w="38100">
            <a:solidFill>
              <a:srgbClr val="C7A5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67633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960891" y="269748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авг 2026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06611" y="3108960"/>
            <a:ext cx="236212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611" y="3108960"/>
            <a:ext cx="2362124" cy="5486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6" name="Text 34"/>
          <p:cNvSpPr/>
          <p:nvPr/>
        </p:nvSpPr>
        <p:spPr>
          <a:xfrm>
            <a:off x="9143771" y="329184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Открытие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3771" y="3886200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второй точки. Резервный терминал и СБП-QR — с дня 1.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598932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[требует уточнения: разбить по неделям, согласовать сроки ремонта с прорабом Виктором]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CLAUDE.md (дедлайн 1 августа 2026); прораб Виктор — Стартовый_бюджет.xlsx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" cy="164592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предлагаем инвестору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sheet — каркас. Цифры финализируем перед отправкой.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91440" cy="1874520"/>
          </a:xfrm>
          <a:prstGeom prst="rect">
            <a:avLst/>
          </a:prstGeom>
          <a:solidFill>
            <a:srgbClr val="C97B5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ПРИВЛЕКАЕМАЯ СУММА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[требует уточнения]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часть из 6 млн ₽ — у инвестора, какая — собственные средства Дениса.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91640"/>
            <a:ext cx="91440" cy="1874520"/>
          </a:xfrm>
          <a:prstGeom prst="rect">
            <a:avLst/>
          </a:prstGeom>
          <a:solidFill>
            <a:srgbClr val="C97B5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УЧАСТИЯ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[требует уточнения]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 проекте / процентный займ / иной формат — выбор Дениса.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3949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49040"/>
            <a:ext cx="91440" cy="1874520"/>
          </a:xfrm>
          <a:prstGeom prst="rect">
            <a:avLst/>
          </a:prstGeom>
          <a:solidFill>
            <a:srgbClr val="C97B5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ВОЗВРАТА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251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[требует расчёта]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" y="4892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Финмодель: при марже 2 млн ₽/мес и доле X% от прибыли — Y месяцев.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749040"/>
            <a:ext cx="53949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749040"/>
            <a:ext cx="91440" cy="187452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ИНВЕСТОРА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Пассивное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37960" y="4892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Операционка — Денис и Ольга. Ежемесячная отчётность по факту.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943600"/>
            <a:ext cx="11018520" cy="45720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отправкой инвестору: финализировать сумму, форму сделки и срок возврата.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</a:t>
            </a:r>
            <a:pPr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Презентация инвестору v2  ·  Май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78484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v1 (Презентация_инвестору_v1.pdf) указывала «обсуждаемо» — этого недостаточно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8DAE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D6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делает вторую точку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0" cy="2468880"/>
          </a:xfrm>
          <a:prstGeom prst="rect">
            <a:avLst/>
          </a:prstGeom>
          <a:solidFill>
            <a:srgbClr val="2E5E4E"/>
          </a:solidFill>
          <a:ln w="12700">
            <a:solidFill>
              <a:srgbClr val="C7A5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103120"/>
            <a:ext cx="1097280" cy="1097280"/>
          </a:xfrm>
          <a:prstGeom prst="ellipse">
            <a:avLst/>
          </a:prstGeom>
          <a:solidFill>
            <a:srgbClr val="F8F7F4"/>
          </a:solidFill>
          <a:ln w="38100">
            <a:solidFill>
              <a:srgbClr val="C7A5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ДС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Денис Сидоров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Основатель, ИП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950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Запустил первую точку в 2023. УСН «доходы минус расходы», ставка 7%. Операционный опыт 3 года.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3657600" cy="2468880"/>
          </a:xfrm>
          <a:prstGeom prst="rect">
            <a:avLst/>
          </a:prstGeom>
          <a:solidFill>
            <a:srgbClr val="2E5E4E"/>
          </a:solidFill>
          <a:ln w="12700">
            <a:solidFill>
              <a:srgbClr val="C7A5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103120"/>
            <a:ext cx="1097280" cy="1097280"/>
          </a:xfrm>
          <a:prstGeom prst="ellipse">
            <a:avLst/>
          </a:prstGeom>
          <a:solidFill>
            <a:srgbClr val="F8F7F4"/>
          </a:solidFill>
          <a:ln w="38100">
            <a:solidFill>
              <a:srgbClr val="C7A5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177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Ольга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Управляющая первой точки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950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анализа отзывов и операционных регламентов. Автор гипотез по зонированию и среднему чеку.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828800"/>
            <a:ext cx="3657600" cy="2468880"/>
          </a:xfrm>
          <a:prstGeom prst="rect">
            <a:avLst/>
          </a:prstGeom>
          <a:solidFill>
            <a:srgbClr val="2E5E4E"/>
          </a:solidFill>
          <a:ln w="12700">
            <a:solidFill>
              <a:srgbClr val="C7A5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2103120"/>
            <a:ext cx="1097280" cy="1097280"/>
          </a:xfrm>
          <a:prstGeom prst="ellipse">
            <a:avLst/>
          </a:prstGeom>
          <a:solidFill>
            <a:srgbClr val="F8F7F4"/>
          </a:solidFill>
          <a:ln w="38100">
            <a:solidFill>
              <a:srgbClr val="C7A5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41248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Бариста-старший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Носитель ДНК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0" y="3950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с первой точки на роль наставника команды второй точки. Никиту со старой не переводим.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548640" cy="36576"/>
          </a:xfrm>
          <a:prstGeom prst="rect">
            <a:avLst/>
          </a:prstGeom>
          <a:solidFill>
            <a:srgbClr val="C7A57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7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 Сидоров, основатель «Ладьи»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denis@ladya.cafe   ·   телефон по запросу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5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 Сидоров Д. · УСН 7% (доходы минус расходы) · ИНН [требует уточнения]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ИП Сидоров Д.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Кофейня «Ладья» — вторая точка. Презентация инвестору v2</dc:title>
  <dc:subject>PptxGenJS Presentation</dc:subject>
  <dc:creator>Денис Сидоров</dc:creator>
  <cp:lastModifiedBy>Денис Сидоров</cp:lastModifiedBy>
  <cp:revision>1</cp:revision>
  <dcterms:created xsi:type="dcterms:W3CDTF">2026-05-08T19:41:37Z</dcterms:created>
  <dcterms:modified xsi:type="dcterms:W3CDTF">2026-05-08T19:41:37Z</dcterms:modified>
</cp:coreProperties>
</file>