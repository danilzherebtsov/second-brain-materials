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E5E4E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2E5E4E"/>
                </a:solidFill>
                <a:latin typeface="Georgia"/>
              </a:rPr>
              <a:t>Число кофеен в Екатеринбурге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Кофеен</c:v>
                </c:pt>
              </c:strCache>
            </c:strRef>
          </c:tx>
          <c:spPr>
            <a:solidFill>
              <a:srgbClr val="2E5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Конец 2024</c:v>
                  </c:pt>
                  <c:pt idx="1">
                    <c:v>Q1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</c:v>
                </c:pt>
                <c:pt idx="1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A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majorGridlines>
          <c:spPr>
            <a:ln w="6350" cap="flat">
              <a:solidFill>
                <a:srgbClr val="D9D2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0E6"/>
        </a:solidFill>
        <a:ln>
          <a:noFill/>
        </a:ln>
        <a:effectLst/>
      </c:spPr>
    </c:plotArea>
    <c:plotVisOnly val="1"/>
    <c:dispBlanksAs val="span"/>
  </c:chart>
  <c:spPr>
    <a:solidFill>
      <a:srgbClr val="F5F0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0" kern="0" dirty="0">
                <a:solidFill>
                  <a:srgbClr val="C8DC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ЛАДЬЯ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Открытие второй точки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DC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Екатеринбурге, лето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097280" cy="36576"/>
          </a:xfrm>
          <a:prstGeom prst="rect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частного инвестора · май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 Сидоров, основатель · denis@ladya.cafe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Суть предложения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делаем и сколько просим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Стартовые инвестиции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5,6 млн ₽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открытие второй точки в Екатеринбурге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548640" cy="27432"/>
          </a:xfrm>
          <a:prstGeom prst="rect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— оценочно 18–24 мес.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(обоснование на слайде 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Действующий бизнес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точка работает с 2023 года, стабильная выручка ~2,8 млн ₽/мес.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21208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Готовая команда и стандарт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Лояльная база 60–70 постоянных гостей; перенос стандартов через людей.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21208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Открытие до августа 2026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3813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выбор локации — до 15.06.2026; ремонт и запуск летом.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Первая точка — наше доказательство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 нас уже работает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011680" cy="54864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 млн ₽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в месяц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(стабильно с 2024)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8608" y="132588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325880"/>
            <a:ext cx="2011680" cy="54864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60–70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24328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постоянных гостей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 каждую неделю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132588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325880"/>
            <a:ext cx="2011680" cy="54864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года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45736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первой точки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2023 года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21424" y="132588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21424" y="1325880"/>
            <a:ext cx="2011680" cy="54864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УСН 7%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67144" y="2240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доходы минус расходы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белый учёт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solidFill>
            <a:srgbClr val="C8DCD0"/>
          </a:solidFill>
          <a:ln w="12700">
            <a:solidFill>
              <a:srgbClr val="C8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37560"/>
            <a:ext cx="73152" cy="128016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564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"Хожу почти каждый день. Знают по имени."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Екатерина С., Яндекс.Карты, 5★, 30.01.2026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315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любят — стабильное качество кофе (4 упом.), личный сервис (3), завтраки и десерты (3), безлактозное молоко.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Рынок: Екатеринбург — топ по кофейности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РБК Исследования, Альтера Инвест, Mentoday, Forbes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+14,6% за год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37160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371600"/>
            <a:ext cx="54864" cy="82296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64608" y="1444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64608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кофеен на 10 000 жителей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66560" y="14630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РФ по плотности (Альтера Инвест / Яндекс Карты)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233172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2331720"/>
            <a:ext cx="54864" cy="82296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2404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669→741 ₽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64608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 specialty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66560" y="2423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→ 2026, рост быстрее инфляции (Mentoday)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3291840"/>
            <a:ext cx="3840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0" y="3291840"/>
            <a:ext cx="54864" cy="822960"/>
          </a:xfrm>
          <a:prstGeom prst="rect">
            <a:avLst/>
          </a:prstGeom>
          <a:solidFill>
            <a:srgbClr val="B94A3F"/>
          </a:solidFill>
          <a:ln w="12700">
            <a:solidFill>
              <a:srgbClr val="B94A3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3364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4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−7,3%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86460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покупок в кофейнях, 2025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66560" y="3383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растёт в деньгах, а не в трафике — нужна дифференциация (Forbes)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Голос гостя за 4 месяца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отзыв + наблюдения управляющей · 2ГИС, Яндекс.Карты, анкеты, Telegram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Сила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931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Стабильное качество кофе (4 упоминания)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сервис, бариста «знают по имени» (3)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Завтраки и десерты — сырники, чизкейк (3)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Безлактозное молоко в наличии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931920" cy="777240"/>
          </a:xfrm>
          <a:prstGeom prst="rect">
            <a:avLst/>
          </a:prstGeom>
          <a:solidFill>
            <a:srgbClr val="C8DCD0"/>
          </a:solidFill>
          <a:ln w="12700">
            <a:solidFill>
              <a:srgbClr val="C8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"Кофе всегда стабильно вкусный."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Екатерина С., Яндекс.Карты, 5★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931920" cy="411480"/>
          </a:xfrm>
          <a:prstGeom prst="rect">
            <a:avLst/>
          </a:prstGeom>
          <a:solidFill>
            <a:srgbClr val="B94A3F"/>
          </a:solidFill>
          <a:ln w="12700">
            <a:solidFill>
              <a:srgbClr val="B94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3931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745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Восприятие цены / ценности (3)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в часы пик — очереди 20 мин (2)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и розетки — слабая инфраструктура (2)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и музыка, нет "тихой зоны" (2+1)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931920"/>
            <a:ext cx="3931920" cy="777240"/>
          </a:xfrm>
          <a:prstGeom prst="rect">
            <a:avLst/>
          </a:prstGeom>
          <a:solidFill>
            <a:srgbClr val="F4DCD6"/>
          </a:solidFill>
          <a:ln w="12700">
            <a:solidFill>
              <a:srgbClr val="F4D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4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"В субботу днём ждал кофе 20 минут."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Сергей В., 2ГИС, 3★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Стратегия второй точки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пункт — ответ на конкретную боль или сильную сторону первой точки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13258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609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повторить очереди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938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 бариста на пик с первого дня. Отдельный канал «с собой» / окно самовывоза + онлайн-предзаказ.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73152" cy="13258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ПРОСТРАНСТВО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609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Тихая зона + разговорная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938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ремонте — звукопоглощение. Зонирование на два сценария. Wi-Fi с резервом, розетки вдоль рабочих мест.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88920"/>
            <a:ext cx="73152" cy="13258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3118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Сохранить ядро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447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бленд (Skuratov). Сырники и чизкейк с первого дня. Безлактозное/овсяное/миндальное молоко постоянно. Зерно на вынос.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788920"/>
            <a:ext cx="73152" cy="13258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3118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Перенос через людей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3447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Никита (часто в отзывах) — кандидат на старшего бариста. Аттестация новичков на стандартах первой точки до открытия.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Локация: три кандидата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выбор до 15.06.2026, после юридической доработки договоров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23444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325880"/>
            <a:ext cx="91440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3258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325880"/>
            <a:ext cx="77724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325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325880"/>
            <a:ext cx="114300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325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105156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325880"/>
            <a:ext cx="132588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1325880"/>
            <a:ext cx="1783080" cy="41148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риск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737360"/>
            <a:ext cx="1234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Гагарина, 14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83080" y="1737360"/>
            <a:ext cx="914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97480" y="1737360"/>
            <a:ext cx="777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17373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кв.м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1737360"/>
            <a:ext cx="1143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17373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тыс ₽/мес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1737360"/>
            <a:ext cx="1051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737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737360"/>
            <a:ext cx="1325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1737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ТЦ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95160" y="1737360"/>
            <a:ext cx="1783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1737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соседство с сетями (DUO, Cinnabon)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514600"/>
            <a:ext cx="1234440" cy="777240"/>
          </a:xfrm>
          <a:prstGeom prst="rect">
            <a:avLst/>
          </a:prstGeom>
          <a:solidFill>
            <a:srgbClr val="FBF8F2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514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Лесная, 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783080" y="2514600"/>
            <a:ext cx="914400" cy="777240"/>
          </a:xfrm>
          <a:prstGeom prst="rect">
            <a:avLst/>
          </a:prstGeom>
          <a:solidFill>
            <a:srgbClr val="FBF8F2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97480" y="2514600"/>
            <a:ext cx="777240" cy="777240"/>
          </a:xfrm>
          <a:prstGeom prst="rect">
            <a:avLst/>
          </a:prstGeom>
          <a:solidFill>
            <a:srgbClr val="FBF8F2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25146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кв.м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2514600"/>
            <a:ext cx="1143000" cy="777240"/>
          </a:xfrm>
          <a:prstGeom prst="rect">
            <a:avLst/>
          </a:prstGeom>
          <a:solidFill>
            <a:srgbClr val="FBF8F2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5146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тыс ₽ + КУ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2514600"/>
            <a:ext cx="1051560" cy="777240"/>
          </a:xfrm>
          <a:prstGeom prst="rect">
            <a:avLst/>
          </a:prstGeom>
          <a:solidFill>
            <a:srgbClr val="FBF8F2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514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 млн ₽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2514600"/>
            <a:ext cx="1325880" cy="777240"/>
          </a:xfrm>
          <a:prstGeom prst="rect">
            <a:avLst/>
          </a:prstGeom>
          <a:solidFill>
            <a:srgbClr val="FBF8F2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2514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офисы, пешеходы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95160" y="2514600"/>
            <a:ext cx="1783080" cy="777240"/>
          </a:xfrm>
          <a:prstGeom prst="rect">
            <a:avLst/>
          </a:prstGeom>
          <a:solidFill>
            <a:srgbClr val="FBF8F2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514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требует 4+ правок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3291840"/>
            <a:ext cx="1234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291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Парковая, 22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83080" y="3291840"/>
            <a:ext cx="914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7452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стрит, угол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97480" y="3291840"/>
            <a:ext cx="777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3291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кв.м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0" y="3291840"/>
            <a:ext cx="1143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3291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тыс ₽/мес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17720" y="3291840"/>
            <a:ext cx="1051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2918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3291840"/>
            <a:ext cx="1325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3291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спальный район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95160" y="3291840"/>
            <a:ext cx="1783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86600" y="3291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трафик, нужен маркетинг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рекомендация — после юридической проверки договоров и осмотра помещений.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Стартовый бюджет: 5 613 500 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01_исходники/финансы/Стартовый_бюджет.xlsx (черновик 30.04.2026)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Оборудование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2 340 000 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кофемашина · мебель · холодильное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914400" cy="914400"/>
          </a:xfrm>
          <a:prstGeom prst="rect">
            <a:avLst/>
          </a:prstGeom>
          <a:solidFill>
            <a:srgbClr val="5B8C7C"/>
          </a:solidFill>
          <a:ln w="12700">
            <a:solidFill>
              <a:srgbClr val="5B8C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Ремонт и отделка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07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1 688 500 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электрика · вентиляция · дизайн-проект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Прочее (запуск)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1 585 000 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· стартовый запас · маркетинг · резерв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Топ-5 статей расходов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148840"/>
            <a:ext cx="40233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Кофемашина La Marzocco Linea PB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850 000 ₽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560320"/>
            <a:ext cx="40233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 и аренда, 2 мес.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660 000 ₽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2971800"/>
            <a:ext cx="40233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Мебель на заказ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450 000 ₽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3383280"/>
            <a:ext cx="40233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Электрика с усилением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320 000 ₽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794760"/>
            <a:ext cx="40233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Холодильное оборудование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320 000 ₽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Резервы: 10% по ремонту + 300 000 ₽ отдельная подушка.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Депозит/аренда уточняется после выбора локации (330–440 тыс ₽).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Юнит-экономика и окупаемость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из Стартовый_бюджет.xlsx, лист «Месячные расходы». Сценарий полной выручки.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606040" cy="54864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 млн 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прогнозная выручка точки в месяц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28016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280160"/>
            <a:ext cx="2606040" cy="54864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1,46 млн 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01568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месячные расходы (аренда 220 + ФОТ 380 + закупки 520 + прочее)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0176" y="1280160"/>
            <a:ext cx="26060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0176" y="1280160"/>
            <a:ext cx="2606040" cy="54864"/>
          </a:xfrm>
          <a:prstGeom prst="rect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~2,04 млн ₽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17336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операционная прибыль (до УСН 7%)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8092440" cy="1554480"/>
          </a:xfrm>
          <a:prstGeom prst="rect">
            <a:avLst/>
          </a:prstGeom>
          <a:solidFill>
            <a:srgbClr val="C8DCD0"/>
          </a:solidFill>
          <a:ln w="12700">
            <a:solidFill>
              <a:srgbClr val="C8DC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788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Бенчмарк по рынку и наша позиция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Skuratov Coffee (Forbes)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млн 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года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(Альтера Инвест)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 млн 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3 лет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803904"/>
            <a:ext cx="7909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97B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«Ладья», вторая точка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млн 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мес. (целевой)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Помесячная финмодель и сценарии (пессимист/база/оптимист) — отдельный файл по запросу.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предлагаем инвестору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обсудить разумную структуру в течение недели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Распределение ролей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3200400" cy="914400"/>
          </a:xfrm>
          <a:prstGeom prst="rect">
            <a:avLst/>
          </a:prstGeom>
          <a:solidFill>
            <a:srgbClr val="C8DCD0"/>
          </a:solidFill>
          <a:ln w="12700">
            <a:solidFill>
              <a:srgbClr val="C8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Денис + Ольга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Операционное управление, стандарты, отчётность ежемесячно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2834640"/>
            <a:ext cx="365760" cy="274320"/>
          </a:xfrm>
          <a:prstGeom prst="downArrow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004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Инвестор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584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Капитал. Пассивная сторона. Доступ к учётке iiko и банковской выписке.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Параметры сделки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4114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привлечения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или вся сумма (5,6 млн ₽)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651760"/>
            <a:ext cx="4114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доля, заём или гибрид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3108960"/>
            <a:ext cx="4114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возврата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18–24 мес.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3566160"/>
            <a:ext cx="4114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IRR — к обсуждению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4023360"/>
            <a:ext cx="4114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пассивное; отчётность ежемесячно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4480560"/>
            <a:ext cx="4114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выкуп доли или дивиденды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обсудить и зафиксировать любой разумный сценарий в течение недели.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02920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Риски — и наш план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риск с понятным механизмом митигации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737360" cy="749808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Рыночный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3350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Покупки в кофейнях в 2025 упали на −7,3% (Forbes). Трафик уходит в кофематы и «дома».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89320" y="1335024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7648" y="13350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на specialty / третью волну: средний чек выше, отстройка от массовых сетей очевидная.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21408"/>
            <a:ext cx="1737360" cy="749808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2140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Себестоимость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1762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кофе в 2025 выросла ~на 20% (засуха в Бразилии/Вьетнаме).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217627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27648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Двухпоставщиковая схема: Skuratov основной, Coffee Project резерв (см. решения 22.05.2026).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2656"/>
            <a:ext cx="1737360" cy="749808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Юридический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017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Стандартные договоры аренды защищают арендодателя (Лесная 7 — пеня 0,5%/день, нет компенсации улучшений).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301752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27648" y="3017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 до подписи договора, минимум 4 правки, профессиональный осмотр перед актом приёма-передачи.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03904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03904"/>
            <a:ext cx="1737360" cy="749808"/>
          </a:xfrm>
          <a:prstGeom prst="rect">
            <a:avLst/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0390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Операционный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31720" y="38587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качества при масштабировании, нехватка бариста — структурная проблема рынка 2025–2026.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3858768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7648" y="3858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стандарта через людей (Никита), аттестация до открытия, не идём в франчайзинг.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Ладья · вторая точка · май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4864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C8DC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И СЛЕДУЮЩИЕ ШАГИ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91640" y="1097280"/>
            <a:ext cx="777240" cy="777240"/>
          </a:xfrm>
          <a:prstGeom prst="ellipse">
            <a:avLst/>
          </a:prstGeom>
          <a:solidFill>
            <a:srgbClr val="1F4538"/>
          </a:solidFill>
          <a:ln w="19050">
            <a:solidFill>
              <a:srgbClr val="C97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1097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Денис Сидоров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Основатель, ИП с 2023.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Стратегия, финансы, переговоры.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097280"/>
            <a:ext cx="777240" cy="777240"/>
          </a:xfrm>
          <a:prstGeom prst="ellipse">
            <a:avLst/>
          </a:prstGeom>
          <a:solidFill>
            <a:srgbClr val="1F4538"/>
          </a:solidFill>
          <a:ln w="19050">
            <a:solidFill>
              <a:srgbClr val="C97B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097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Ольга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Управляющая первой точки.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 запуска второй.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097280"/>
            <a:ext cx="777240" cy="777240"/>
          </a:xfrm>
          <a:prstGeom prst="ellipse">
            <a:avLst/>
          </a:prstGeom>
          <a:solidFill>
            <a:srgbClr val="1F4538"/>
          </a:solidFill>
          <a:ln w="19050">
            <a:solidFill>
              <a:srgbClr val="C97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097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7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Никита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Бариста первой точки.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на старшего бариста.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7680960" cy="0"/>
          </a:xfrm>
          <a:prstGeom prst="line">
            <a:avLst/>
          </a:prstGeom>
          <a:noFill/>
          <a:ln w="12700">
            <a:solidFill>
              <a:srgbClr val="C97B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3474720"/>
            <a:ext cx="274320" cy="274320"/>
          </a:xfrm>
          <a:prstGeom prst="ellipse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локации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474720"/>
            <a:ext cx="274320" cy="274320"/>
          </a:xfrm>
          <a:prstGeom prst="ellipse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 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юр.правки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3474720"/>
            <a:ext cx="274320" cy="274320"/>
          </a:xfrm>
          <a:prstGeom prst="ellipse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3474720"/>
            <a:ext cx="274320" cy="274320"/>
          </a:xfrm>
          <a:prstGeom prst="ellipse">
            <a:avLst/>
          </a:prstGeom>
          <a:solidFill>
            <a:srgbClr val="C97B2F"/>
          </a:solidFill>
          <a:ln w="12700">
            <a:solidFill>
              <a:srgbClr val="C97B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383280"/>
            <a:ext cx="457200" cy="457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7B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 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4041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 Сидоров · denis@ladya.cafe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Ладья — вторая точка. Презентация для инвестора v2</dc:title>
  <dc:subject>PptxGenJS Presentation</dc:subject>
  <dc:creator>Денис Сидоров</dc:creator>
  <cp:lastModifiedBy>Денис Сидоров</cp:lastModifiedBy>
  <cp:revision>1</cp:revision>
  <dcterms:created xsi:type="dcterms:W3CDTF">2026-05-22T20:31:13Z</dcterms:created>
  <dcterms:modified xsi:type="dcterms:W3CDTF">2026-05-22T20:31:13Z</dcterms:modified>
</cp:coreProperties>
</file>